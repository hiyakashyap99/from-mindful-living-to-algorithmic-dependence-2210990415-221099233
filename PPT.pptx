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" name="CustomShape 2"/>
          <p:cNvSpPr/>
          <p:nvPr/>
        </p:nvSpPr>
        <p:spPr>
          <a:xfrm flipV="1">
            <a:off x="-1" y="6704640"/>
            <a:ext cx="9143642" cy="197644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" name="Group 3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30" name="CustomShape 4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CustomShape 5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3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" name="Group 6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36" name="CustomShape 7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" name="CustomShape 8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4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xfrm>
            <a:off x="8885635" y="6620296"/>
            <a:ext cx="258366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0" name="CustomShape 2"/>
          <p:cNvSpPr/>
          <p:nvPr/>
        </p:nvSpPr>
        <p:spPr>
          <a:xfrm flipV="1">
            <a:off x="-1" y="6704640"/>
            <a:ext cx="9143642" cy="197644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5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" name="Group 3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53" name="CustomShape 4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54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CustomShape 5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57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 6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59" name="CustomShape 7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60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1" name="CustomShape 8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63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1" name="CustomShape 2"/>
          <p:cNvSpPr/>
          <p:nvPr/>
        </p:nvSpPr>
        <p:spPr>
          <a:xfrm flipV="1">
            <a:off x="-1" y="6704640"/>
            <a:ext cx="9143642" cy="197644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8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7" name="Group 3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84" name="CustomShape 4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85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6" name="CustomShape 5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8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3" name="Group 6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90" name="CustomShape 7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9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" name="CustomShape 8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9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 lIns="45718" tIns="45718" rIns="45718" bIns="45718"/>
          <a:lstStyle>
            <a:lvl1pPr algn="l">
              <a:lnSpc>
                <a:spcPct val="90000"/>
              </a:lnSpc>
              <a:defRPr spc="0" sz="4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8885635" y="6620296"/>
            <a:ext cx="258366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4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6" name="CustomShape 4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5" y="-4"/>
            <a:ext cx="2997009" cy="875887"/>
            <a:chOff x="0" y="-1"/>
            <a:chExt cx="2997007" cy="875885"/>
          </a:xfrm>
        </p:grpSpPr>
        <p:sp>
          <p:nvSpPr>
            <p:cNvPr id="12" name="CustomShape 7"/>
            <p:cNvSpPr/>
            <p:nvPr/>
          </p:nvSpPr>
          <p:spPr>
            <a:xfrm>
              <a:off x="-1" y="-2"/>
              <a:ext cx="2997008" cy="837726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7"/>
            <a:stretch>
              <a:fillRect/>
            </a:stretch>
          </p:blipFill>
          <p:spPr>
            <a:xfrm>
              <a:off x="406442" y="228599"/>
              <a:ext cx="2057043" cy="634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2" y="190439"/>
              <a:ext cx="2076124" cy="68544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4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6294835" y="6232199"/>
            <a:ext cx="258366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pc="-1" sz="1200">
                <a:solidFill>
                  <a:srgbClr val="89898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822" marR="0" indent="-3262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078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142" marR="0" indent="-36518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342" marR="0" indent="-36518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ssesment-researchpaper.netlify.app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ssesment-researchpaper.netlify.app/" TargetMode="Externa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5716" y="840629"/>
            <a:ext cx="9052568" cy="698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Presentation of CO-OP Project at Industry (Module-2) (22CS421)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>
              <a:spcBef>
                <a:spcPts val="400"/>
              </a:spcBef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Mindful Living to Algorithmic Dependence</a:t>
            </a:r>
            <a:endParaRPr i="1" spc="-1" sz="2000"/>
          </a:p>
          <a:p>
            <a:pPr algn="ctr">
              <a:spcBef>
                <a:spcPts val="400"/>
              </a:spcBef>
              <a:defRPr i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Psychological Consequences of AI-Driven Health and Wellness Applications</a:t>
            </a:r>
            <a:endParaRPr spc="-1" sz="2000"/>
          </a:p>
          <a:p>
            <a:pPr algn="ctr">
              <a:spcBef>
                <a:spcPts val="400"/>
              </a:spcBef>
              <a:defRPr i="1"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rPr i="0"/>
              <a:t>Hiya Kashyap(2210990415) &amp; Shivi(2210992333)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Rajat Takkar, Department of Computer Science and Engineering, Chitkara University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 &amp; Objective</a:t>
            </a:r>
          </a:p>
        </p:txBody>
      </p:sp>
      <p:sp>
        <p:nvSpPr>
          <p:cNvPr id="108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9" name="TextShape 2"/>
          <p:cNvSpPr txBox="1"/>
          <p:nvPr/>
        </p:nvSpPr>
        <p:spPr>
          <a:xfrm>
            <a:off x="209726" y="1109740"/>
            <a:ext cx="8747284" cy="382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Background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AI-driven health and wellness apps (fitness trackers, calorie counters, sleep apps, chatbots) are now deeply embedded in daily life.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began as helpful tools for mindful living is shifting into algorithmic dependence, affecting mental, emotional, and cognitive well-being.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Objectives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Identify the boundary where self-tracking turns from helpful to counterproductive.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Examine how AI companions affect empathy, non-verbal intelligence, and conflict-resolution skills.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 which cognitive skills (memory, navigation, attention) are being sacrificed to algorithms.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112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3" name="TextShape 2"/>
          <p:cNvSpPr txBox="1"/>
          <p:nvPr/>
        </p:nvSpPr>
        <p:spPr>
          <a:xfrm>
            <a:off x="209726" y="1109740"/>
            <a:ext cx="8747284" cy="3927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Approach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Systematic literature review of 15 empirical studies (2020-2025).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Combined sample size across studies: over 80,000 participants.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Sources &amp; Criteria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Databases searched on four themes: health-tracking &amp; psychology, AI chatbots, digital amnesia, and eating disorders &amp; apps.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Included only peer-reviewed empirical studies with human subjects, clear methodology, and relevance to research questions.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Theoretical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Grounded in Self-Determination Theory, Enhancement vs. Replacement model, Brain Plasticity, and Motivation Theory.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16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7" name="TextShape 2"/>
          <p:cNvSpPr txBox="1"/>
          <p:nvPr/>
        </p:nvSpPr>
        <p:spPr>
          <a:xfrm>
            <a:off x="209726" y="1109740"/>
            <a:ext cx="8747284" cy="4179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Tracking Becomes Harmful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Orthosomnia — anxiety caused by sleep trackers — affects about 2% of users.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75% of people with eating disorders use MyFitnessPal; 73% report it worsens their condition.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Tracking turns harmful when checked 10+ times a day or when it replaces the body's own signals.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Impact of AI Companions on Human Connection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72% of teens (13-17) use AI chatbots for emotional support; 28% of adults have used AI for romantic interaction.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Study of 5,600+ chatbot users across 6 European nations found increased loneliness after use.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always agrees and lacks non-verbal cues, preventing development of real social skills.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2916" y="146821"/>
            <a:ext cx="5928126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0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1" name="TextShape 2"/>
          <p:cNvSpPr txBox="1"/>
          <p:nvPr/>
        </p:nvSpPr>
        <p:spPr>
          <a:xfrm>
            <a:off x="209727" y="1109739"/>
            <a:ext cx="8747281" cy="252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Cognitive Offloading &amp; Digital Amnesia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91% use the internet as a "second brain"; 71% cannot recall their children's phone numbers.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Heavy GPS use is linked to hippocampus shrinkage; handwriting improves retention by 34% over typing.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on digital amnesia grew 4x in four years (195 in 2019 to 837 in 2023).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increase in Wearable device market growth.</a:t>
            </a:r>
          </a:p>
        </p:txBody>
      </p:sp>
      <p:pic>
        <p:nvPicPr>
          <p:cNvPr id="122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946" y="3737269"/>
            <a:ext cx="4292399" cy="24270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5771" y="3776004"/>
            <a:ext cx="4137524" cy="23495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6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7" name="TextShape 2"/>
          <p:cNvSpPr txBox="1"/>
          <p:nvPr/>
        </p:nvSpPr>
        <p:spPr>
          <a:xfrm>
            <a:off x="209726" y="1109740"/>
            <a:ext cx="8747284" cy="2541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Vulnerable Groups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Teenagers, people with mental health conditions, eating-disorder history, and low-income users without access to support.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Common Pattern</a:t>
            </a:r>
          </a:p>
          <a:p>
            <a:pPr marL="492477" indent="-352776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2000"/>
              <a:buChar char="●"/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</a:t>
            </a:r>
            <a:r>
              <a:rPr b="0" sz="1800">
                <a:solidFill>
                  <a:srgbClr val="000000"/>
                </a:solidFill>
              </a:rPr>
              <a:t>sers may evaluate their dependency on AI through a specially-designed questionnaire for this research paper. It is accessible at the following link: </a:t>
            </a:r>
            <a:r>
              <a:rPr b="0"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https://assesment-researchpaper.netlify.app</a:t>
            </a:r>
          </a:p>
        </p:txBody>
      </p:sp>
      <p:pic>
        <p:nvPicPr>
          <p:cNvPr id="128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96052" y="3969915"/>
            <a:ext cx="4355451" cy="24627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7612" y="4093486"/>
            <a:ext cx="3580461" cy="2346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Key Findings…"/>
          <p:cNvSpPr txBox="1"/>
          <p:nvPr/>
        </p:nvSpPr>
        <p:spPr>
          <a:xfrm>
            <a:off x="65423" y="167858"/>
            <a:ext cx="9013154" cy="21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 defTabSz="457200">
              <a:defRPr sz="426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Findings 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1" sz="2666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Assesment Findings:- Can be used to self test by all the users  </a:t>
            </a:r>
            <a:r>
              <a:rPr b="0" sz="2400" u="sng">
                <a:solidFill>
                  <a:srgbClr val="0563C1"/>
                </a:solidFill>
                <a:hlinkClick r:id="rId2" invalidUrl="" action="" tgtFrame="" tooltip="" history="1" highlightClick="0" endSnd="0"/>
              </a:rPr>
              <a:t>https://assesment-researchpaper.netlify.app</a:t>
            </a:r>
            <a:endParaRPr b="0"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algn="r" defTabSz="457200">
              <a:defRPr b="1" sz="1600"/>
            </a:pPr>
            <a:endParaRPr b="0"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32" name="Text"/>
          <p:cNvSpPr txBox="1"/>
          <p:nvPr/>
        </p:nvSpPr>
        <p:spPr>
          <a:xfrm>
            <a:off x="4500881" y="3294381"/>
            <a:ext cx="2513288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 </a:t>
            </a:r>
          </a:p>
        </p:txBody>
      </p:sp>
      <p:pic>
        <p:nvPicPr>
          <p:cNvPr id="133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5815" y="2109514"/>
            <a:ext cx="2997009" cy="35708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29585" y="2060992"/>
            <a:ext cx="3022457" cy="36678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37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8" name="TextShape 2"/>
          <p:cNvSpPr txBox="1"/>
          <p:nvPr/>
        </p:nvSpPr>
        <p:spPr>
          <a:xfrm>
            <a:off x="209726" y="1109741"/>
            <a:ext cx="8747284" cy="4855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Dual Nature of Wellness Technology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wellness apps promote healthy habits and widen access to care, but can undermine self-motivation and autonomy when overused. 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Insight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Technology should enhance human capability, not replace it yet we are gradually crossing that line.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most serious risk lies with children, who may never fully develop navigation, memory, empathy, and emotional regulation.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Guiding Questions for Users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Before letting AI decide for you, ask: is it impossible for me to do it myself? Or am I just avoiding something that I find unpleasant? 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crucial to understand the significance of losing something being unable to do things in an optimal way, losing one’s humanity, and being subject to the process.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do I not learn? (4) What am I going to miss if I do not learn it?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502918" y="146821"/>
            <a:ext cx="5928124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141" name="TextShape 3"/>
          <p:cNvSpPr txBox="1"/>
          <p:nvPr>
            <p:ph type="sldNum" sz="quarter" idx="4294967295"/>
          </p:nvPr>
        </p:nvSpPr>
        <p:spPr>
          <a:xfrm>
            <a:off x="8721493" y="6650680"/>
            <a:ext cx="181252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42" name="TextShape 2"/>
          <p:cNvSpPr txBox="1"/>
          <p:nvPr/>
        </p:nvSpPr>
        <p:spPr>
          <a:xfrm>
            <a:off x="209726" y="1109739"/>
            <a:ext cx="8747284" cy="5147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Directions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Long-term longitudinal studies (10-20 years) on how continuous AI exposure from childhood shapes development.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Cross-cultural research beyond Western populations to identify global patterns of digital dependence.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Neuroimaging studies on brain recovery and intervention trials on mindful digital practices.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 &amp; Policy Recommendations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Wellness apps should reduce addictive triggers (streaks, notifications) and disclose their limitations.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Governments should introduce consumer protections, age limits on AI companions, and digital-literacy education.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Toward an Interdisciplinary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work must examine how wearables, chatbots, and smartphones interact to shape cognition and behavior.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</p:spPr>
        <p:txBody>
          <a:bodyPr/>
          <a:lstStyle>
            <a:lvl1pPr>
              <a:defRPr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45" name="ReferencesBody"/>
          <p:cNvSpPr txBox="1"/>
          <p:nvPr/>
        </p:nvSpPr>
        <p:spPr>
          <a:xfrm>
            <a:off x="502918" y="1199998"/>
            <a:ext cx="8138163" cy="4118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Lasikiewicz N, Scudds R. WAT's up? Investigating the effects of wearable activity trackers. Journal of Technology in Behavioral Science, 2024.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Baron KG et al. Orthosomnia: Are some patients over-quantifying themselves to excess? Journal of Clinical Sleep Medicine, 2017; 13(2): 351-354.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Levinson CA et al. My Fitness Pal calorie counter use among eating disorder patients. Eating Behaviors, 2017; 27: 14-16.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Kaspersky Lab. Digital Amnesia: The Disappearance of Memory, 2015.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Parasocial Relationships With AI: Dangers, Threats, and Possible Solutions. FasPsych, October 2025.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Influences of attractions on chatbot usage and media addiction. BMC Psychology, August 2025; 13: 986.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Maguire EA et al. London taxi drivers: An MRI analysis of brain structure. Hippocampus, 2006; 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Macrynikola N et al. The impact of mindfulness apps on psychological processes of change: a systematic review. npj Mental Health Research, 2024; 3(1): 14.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Uslu U. Understanding digital wellbeing: impacts, strategies, and the path to healthier technology practices. Digital Wellbeing, 2025; 5: art. 145.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Adanyin A. AI Feedback Loops in Digital Technologies: Psychological Impacts on User Behavior and Well-Being. arXiv, 2024.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343296" y="3102117"/>
            <a:ext cx="6614160" cy="849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48" name="TextShape 3"/>
          <p:cNvSpPr txBox="1"/>
          <p:nvPr>
            <p:ph type="sldNum" sz="quarter" idx="4294967295"/>
          </p:nvPr>
        </p:nvSpPr>
        <p:spPr>
          <a:xfrm>
            <a:off x="8428069" y="6414706"/>
            <a:ext cx="258367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