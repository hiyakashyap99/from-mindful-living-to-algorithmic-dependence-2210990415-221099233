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media/image1.jpeg" ContentType="image/jpe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" name="Shape 10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hitkar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ustomShape 1"/>
          <p:cNvSpPr/>
          <p:nvPr/>
        </p:nvSpPr>
        <p:spPr>
          <a:xfrm>
            <a:off x="-1" y="0"/>
            <a:ext cx="9143642" cy="837720"/>
          </a:xfrm>
          <a:prstGeom prst="rect">
            <a:avLst/>
          </a:prstGeom>
          <a:solidFill>
            <a:srgbClr val="FF33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27" name="CustomShape 2"/>
          <p:cNvSpPr/>
          <p:nvPr/>
        </p:nvSpPr>
        <p:spPr>
          <a:xfrm flipV="1">
            <a:off x="-1" y="6704640"/>
            <a:ext cx="9143642" cy="197642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28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pic>
        <p:nvPicPr>
          <p:cNvPr id="29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3" name="Group 3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30" name="CustomShape 4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31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" name="CustomShape 5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34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35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9" name="Group 6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36" name="CustomShape 7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37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8" name="CustomShape 8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40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Title Text"/>
          <p:cNvSpPr txBox="1"/>
          <p:nvPr>
            <p:ph type="title"/>
          </p:nvPr>
        </p:nvSpPr>
        <p:spPr>
          <a:xfrm>
            <a:off x="0" y="0"/>
            <a:ext cx="6476761" cy="837720"/>
          </a:xfrm>
          <a:prstGeom prst="rect">
            <a:avLst/>
          </a:prstGeom>
        </p:spPr>
        <p:txBody>
          <a:bodyPr lIns="45718" tIns="45718" rIns="45718" bIns="45718"/>
          <a:lstStyle/>
          <a:p>
            <a:pPr/>
            <a:r>
              <a:t>Title Text</a:t>
            </a:r>
          </a:p>
        </p:txBody>
      </p:sp>
      <p:sp>
        <p:nvSpPr>
          <p:cNvPr id="42" name="Slide Number"/>
          <p:cNvSpPr txBox="1"/>
          <p:nvPr>
            <p:ph type="sldNum" sz="quarter" idx="2"/>
          </p:nvPr>
        </p:nvSpPr>
        <p:spPr>
          <a:xfrm>
            <a:off x="8885633" y="6620295"/>
            <a:ext cx="258368" cy="248304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ustomShape 1"/>
          <p:cNvSpPr/>
          <p:nvPr/>
        </p:nvSpPr>
        <p:spPr>
          <a:xfrm>
            <a:off x="-1" y="0"/>
            <a:ext cx="9143642" cy="837720"/>
          </a:xfrm>
          <a:prstGeom prst="rect">
            <a:avLst/>
          </a:prstGeom>
          <a:solidFill>
            <a:srgbClr val="FF33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50" name="CustomShape 2"/>
          <p:cNvSpPr/>
          <p:nvPr/>
        </p:nvSpPr>
        <p:spPr>
          <a:xfrm flipV="1">
            <a:off x="-1" y="6704640"/>
            <a:ext cx="9143642" cy="197642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51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pic>
        <p:nvPicPr>
          <p:cNvPr id="52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6" name="Group 3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53" name="CustomShape 4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54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55" name="CustomShape 5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57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58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2" name="Group 6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59" name="CustomShape 7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60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1" name="CustomShape 8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63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sp>
        <p:nvSpPr>
          <p:cNvPr id="64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72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hitkara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-1" y="0"/>
            <a:ext cx="9143642" cy="837720"/>
          </a:xfrm>
          <a:prstGeom prst="rect">
            <a:avLst/>
          </a:prstGeom>
          <a:solidFill>
            <a:srgbClr val="FF33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81" name="CustomShape 2"/>
          <p:cNvSpPr/>
          <p:nvPr/>
        </p:nvSpPr>
        <p:spPr>
          <a:xfrm flipV="1">
            <a:off x="-1" y="6704640"/>
            <a:ext cx="9143642" cy="197642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82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7" name="Group 3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84" name="CustomShape 4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85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86" name="CustomShape 5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88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89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3" name="Group 6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90" name="CustomShape 7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91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92" name="CustomShape 8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94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6476761" cy="837720"/>
          </a:xfrm>
          <a:prstGeom prst="rect">
            <a:avLst/>
          </a:prstGeom>
        </p:spPr>
        <p:txBody>
          <a:bodyPr lIns="45718" tIns="45718" rIns="45718" bIns="45718"/>
          <a:lstStyle>
            <a:lvl1pPr algn="l">
              <a:lnSpc>
                <a:spcPct val="90000"/>
              </a:lnSpc>
              <a:defRPr spc="0" sz="4400">
                <a:latin typeface="Arial"/>
                <a:ea typeface="Arial"/>
                <a:cs typeface="Arial"/>
                <a:sym typeface="Arial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96" name="Slide Number"/>
          <p:cNvSpPr txBox="1"/>
          <p:nvPr>
            <p:ph type="sldNum" sz="quarter" idx="2"/>
          </p:nvPr>
        </p:nvSpPr>
        <p:spPr>
          <a:xfrm>
            <a:off x="8885633" y="6620295"/>
            <a:ext cx="258368" cy="248304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1.xml"/><Relationship Id="rId5" Type="http://schemas.openxmlformats.org/officeDocument/2006/relationships/slideLayout" Target="../slideLayouts/slideLayout2.xml"/><Relationship Id="rId6" Type="http://schemas.openxmlformats.org/officeDocument/2006/relationships/slideLayout" Target="../slideLayouts/slideLayout3.xml"/><Relationship Id="rId7" Type="http://schemas.openxmlformats.org/officeDocument/2006/relationships/slideLayout" Target="../slideLayouts/slideLayout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stomShape 1"/>
          <p:cNvSpPr/>
          <p:nvPr/>
        </p:nvSpPr>
        <p:spPr>
          <a:xfrm>
            <a:off x="-1" y="0"/>
            <a:ext cx="9143642" cy="837720"/>
          </a:xfrm>
          <a:prstGeom prst="rect">
            <a:avLst/>
          </a:prstGeom>
          <a:solidFill>
            <a:srgbClr val="FF33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sp>
        <p:nvSpPr>
          <p:cNvPr id="3" name="CustomShape 2"/>
          <p:cNvSpPr/>
          <p:nvPr/>
        </p:nvSpPr>
        <p:spPr>
          <a:xfrm flipV="1">
            <a:off x="-1" y="6704640"/>
            <a:ext cx="9143642" cy="197642"/>
          </a:xfrm>
          <a:prstGeom prst="rect">
            <a:avLst/>
          </a:prstGeom>
          <a:solidFill>
            <a:srgbClr val="FF0000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Arial"/>
                <a:ea typeface="Arial"/>
                <a:cs typeface="Arial"/>
                <a:sym typeface="Arial"/>
              </a:defRPr>
            </a:pPr>
          </a:p>
        </p:txBody>
      </p:sp>
      <p:pic>
        <p:nvPicPr>
          <p:cNvPr id="4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pic>
        <p:nvPicPr>
          <p:cNvPr id="5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9" name="Group 3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6" name="CustomShape 4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7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8" name="CustomShape 5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10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" name="Picture 10" descr="Picture 10"/>
          <p:cNvPicPr>
            <a:picLocks noChangeAspect="1"/>
          </p:cNvPicPr>
          <p:nvPr/>
        </p:nvPicPr>
        <p:blipFill>
          <a:blip r:embed="rId2">
            <a:extLst/>
          </a:blip>
          <a:srcRect l="0" t="0" r="0" b="10718"/>
          <a:stretch>
            <a:fillRect/>
          </a:stretch>
        </p:blipFill>
        <p:spPr>
          <a:xfrm>
            <a:off x="6553079" y="228599"/>
            <a:ext cx="2057041" cy="63468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5" name="Group 6"/>
          <p:cNvGrpSpPr/>
          <p:nvPr/>
        </p:nvGrpSpPr>
        <p:grpSpPr>
          <a:xfrm>
            <a:off x="6146638" y="0"/>
            <a:ext cx="2997004" cy="875882"/>
            <a:chOff x="-1" y="0"/>
            <a:chExt cx="2997003" cy="875881"/>
          </a:xfrm>
        </p:grpSpPr>
        <p:sp>
          <p:nvSpPr>
            <p:cNvPr id="12" name="CustomShape 7"/>
            <p:cNvSpPr/>
            <p:nvPr/>
          </p:nvSpPr>
          <p:spPr>
            <a:xfrm>
              <a:off x="-2" y="-1"/>
              <a:ext cx="2997005" cy="837723"/>
            </a:xfrm>
            <a:prstGeom prst="rect">
              <a:avLst/>
            </a:prstGeom>
            <a:solidFill>
              <a:srgbClr val="FF33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  <p:pic>
          <p:nvPicPr>
            <p:cNvPr id="13" name="Picture 9" descr="Picture 9"/>
            <p:cNvPicPr>
              <a:picLocks noChangeAspect="1"/>
            </p:cNvPicPr>
            <p:nvPr/>
          </p:nvPicPr>
          <p:blipFill>
            <a:blip r:embed="rId2">
              <a:extLst/>
            </a:blip>
            <a:srcRect l="0" t="0" r="0" b="10718"/>
            <a:stretch>
              <a:fillRect/>
            </a:stretch>
          </p:blipFill>
          <p:spPr>
            <a:xfrm>
              <a:off x="406440" y="228599"/>
              <a:ext cx="2057041" cy="6346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4" name="CustomShape 8"/>
            <p:cNvSpPr/>
            <p:nvPr/>
          </p:nvSpPr>
          <p:spPr>
            <a:xfrm>
              <a:off x="381240" y="190439"/>
              <a:ext cx="2076122" cy="68544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latin typeface="Arial"/>
                  <a:ea typeface="Arial"/>
                  <a:cs typeface="Arial"/>
                  <a:sym typeface="Arial"/>
                </a:defRPr>
              </a:pPr>
            </a:p>
          </p:txBody>
        </p:sp>
      </p:grpSp>
      <p:pic>
        <p:nvPicPr>
          <p:cNvPr id="16" name="Picture 15" descr="Picture 1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53079" y="228600"/>
            <a:ext cx="1920602" cy="609120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Title Text"/>
          <p:cNvSpPr txBox="1"/>
          <p:nvPr>
            <p:ph type="title"/>
          </p:nvPr>
        </p:nvSpPr>
        <p:spPr>
          <a:xfrm>
            <a:off x="0" y="0"/>
            <a:ext cx="5486040" cy="9140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18" name="Body Level One…"/>
          <p:cNvSpPr txBox="1"/>
          <p:nvPr>
            <p:ph type="body" idx="1"/>
          </p:nvPr>
        </p:nvSpPr>
        <p:spPr>
          <a:xfrm>
            <a:off x="457200" y="1604519"/>
            <a:ext cx="8229242" cy="39772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9" name="Slide Number"/>
          <p:cNvSpPr txBox="1"/>
          <p:nvPr>
            <p:ph type="sldNum" sz="quarter" idx="2"/>
          </p:nvPr>
        </p:nvSpPr>
        <p:spPr>
          <a:xfrm>
            <a:off x="6294832" y="6232199"/>
            <a:ext cx="258368" cy="248303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pc="-1" sz="1200">
                <a:solidFill>
                  <a:srgbClr val="898989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4"/>
    <p:sldLayoutId id="2147483650" r:id="rId5"/>
    <p:sldLayoutId id="2147483651" r:id="rId6"/>
    <p:sldLayoutId id="2147483652" r:id="rId7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30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3080" marR="0" indent="-34271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822" marR="0" indent="-326261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–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078" marR="0" indent="-304319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142" marR="0" indent="-365182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–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342" marR="0" indent="-365182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»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92400" marR="0" indent="-4064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49600" marR="0" indent="-4064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606800" marR="0" indent="-4064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64000" marR="0" indent="-406400" algn="l" defTabSz="914400" rtl="0" latinLnBrk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SzPct val="100000"/>
        <a:buFont typeface="Arial"/>
        <a:buChar char="•"/>
        <a:tabLst/>
        <a:defRPr b="0" baseline="0" cap="none" i="0" spc="-1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Shape 1"/>
          <p:cNvSpPr txBox="1"/>
          <p:nvPr/>
        </p:nvSpPr>
        <p:spPr>
          <a:xfrm>
            <a:off x="45718" y="840631"/>
            <a:ext cx="9052564" cy="738099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spcBef>
                <a:spcPts val="400"/>
              </a:spcBef>
              <a:defRPr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Project Presentation of CO-OP Project at Industry (Module-2) (22CS421)</a:t>
            </a: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On</a:t>
            </a:r>
          </a:p>
          <a:p>
            <a:pPr algn="ctr">
              <a:spcBef>
                <a:spcPts val="400"/>
              </a:spcBef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From Mindful Living to Algorithmic Dependence</a:t>
            </a:r>
            <a:endParaRPr i="1" spc="-1" sz="2000"/>
          </a:p>
          <a:p>
            <a:pPr algn="ctr">
              <a:spcBef>
                <a:spcPts val="400"/>
              </a:spcBef>
              <a:defRPr i="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Psychological Consequences of AI-Driven Health and Wellness Applications</a:t>
            </a:r>
            <a:endParaRPr spc="-1" sz="2000"/>
          </a:p>
          <a:p>
            <a:pPr algn="ctr">
              <a:spcBef>
                <a:spcPts val="400"/>
              </a:spcBef>
              <a:defRPr i="1"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br/>
            <a:r>
              <a:rPr i="0"/>
              <a:t>Hiya Kashyap(2210990415) &amp; Shivi(2210992333)</a:t>
            </a: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Department of Computer Science and Engineering</a:t>
            </a: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Supervised By</a:t>
            </a: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Dr. Rajat Takkar, Department of Computer Science and Engineering, Chitkara University</a:t>
            </a: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ctr">
              <a:spcBef>
                <a:spcPts val="400"/>
              </a:spcBef>
              <a:defRPr spc="-1" sz="20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 algn="ctr">
              <a:spcBef>
                <a:spcPts val="400"/>
              </a:spcBef>
              <a:defRPr spc="-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Department of Computer Science and Engineering, </a:t>
            </a:r>
          </a:p>
          <a:p>
            <a:pPr algn="ctr">
              <a:spcBef>
                <a:spcPts val="400"/>
              </a:spcBef>
              <a:defRPr spc="-1" sz="2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Chitkara University, Punjab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Introduction &amp; Objective</a:t>
            </a:r>
          </a:p>
        </p:txBody>
      </p:sp>
      <p:sp>
        <p:nvSpPr>
          <p:cNvPr id="108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09" name="TextShape 2"/>
          <p:cNvSpPr txBox="1"/>
          <p:nvPr/>
        </p:nvSpPr>
        <p:spPr>
          <a:xfrm>
            <a:off x="209726" y="1109741"/>
            <a:ext cx="8747284" cy="38233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Times New Roman"/>
                <a:ea typeface="Times New Roman"/>
                <a:cs typeface="Times New Roman"/>
                <a:sym typeface="Times New Roman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Background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AI-driven health and wellness apps (fitness trackers, calorie counters, sleep apps, chatbots) are now deeply embedded in daily life.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What began as helpful tools for mindful living is shifting into algorithmic dependence, affecting mental, emotional, and cognitive well-being.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Research Objectives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Identify the boundary where self-tracking turns from helpful to counterproductive.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Examine how AI companions affect empathy, non-verbal intelligence, and conflict-resolution skills.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Determine which cognitive skills (memory, navigation, attention) are being sacrificed to algorithms.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Methodology</a:t>
            </a:r>
          </a:p>
        </p:txBody>
      </p:sp>
      <p:sp>
        <p:nvSpPr>
          <p:cNvPr id="112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13" name="TextShape 2"/>
          <p:cNvSpPr txBox="1"/>
          <p:nvPr/>
        </p:nvSpPr>
        <p:spPr>
          <a:xfrm>
            <a:off x="209726" y="1109741"/>
            <a:ext cx="8747284" cy="39274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Research Approach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Systematic literature review of 15 empirical studies (2020-2025).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Combined sample size across studies: over 80,000 participants.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 Sources &amp; Criteria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Databases searched on four themes: health-tracking &amp; psychology, AI chatbots, digital amnesia, and eating disorders &amp; apps.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Included only peer-reviewed empirical studies with human subjects, clear methodology, and relevance to research questions.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Theoretical Framework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Grounded in Self-Determination Theory, Enhancement vs. Replacement model, Brain Plasticity, and Motivation Theory.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Key Findings </a:t>
            </a:r>
          </a:p>
        </p:txBody>
      </p:sp>
      <p:sp>
        <p:nvSpPr>
          <p:cNvPr id="116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17" name="TextShape 2"/>
          <p:cNvSpPr txBox="1"/>
          <p:nvPr/>
        </p:nvSpPr>
        <p:spPr>
          <a:xfrm>
            <a:off x="209726" y="1109742"/>
            <a:ext cx="8747284" cy="41792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When Tracking Becomes Harmful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Orthosomnia — anxiety caused by sleep trackers — affects about 2% of users.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75% of people with eating disorders use MyFitnessPal; 73% report it worsens their condition.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Tracking turns harmful when checked 10+ times a day or when it replaces the body's own signals.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Impact of AI Companions on Human Connection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72% of teens (13-17) use AI chatbots for emotional support; 28% of adults have used AI for romantic interaction.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Study of 5,600+ chatbot users across 6 European nations found increased loneliness after use.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AI always agrees and lacks non-verbal cues, preventing development of real social skills.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Shape 1"/>
          <p:cNvSpPr txBox="1"/>
          <p:nvPr/>
        </p:nvSpPr>
        <p:spPr>
          <a:xfrm>
            <a:off x="502918" y="146822"/>
            <a:ext cx="5928123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Key Findings </a:t>
            </a:r>
          </a:p>
        </p:txBody>
      </p:sp>
      <p:sp>
        <p:nvSpPr>
          <p:cNvPr id="120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3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21" name="TextShape 2"/>
          <p:cNvSpPr txBox="1"/>
          <p:nvPr/>
        </p:nvSpPr>
        <p:spPr>
          <a:xfrm>
            <a:off x="209727" y="1109741"/>
            <a:ext cx="8747281" cy="25243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Cognitive Offloading &amp; Digital Amnesia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91% use the internet as a "second brain"; 71% cannot recall their children's phone numbers.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Heavy GPS use is linked to hippocampus shrinkage; handwriting improves retention by 34% over typing.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Research on digital amnesia grew 4x in four years (195 in 2019 to 837 in 2023).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increase in Wearable device market growth.</a:t>
            </a:r>
          </a:p>
        </p:txBody>
      </p:sp>
      <p:pic>
        <p:nvPicPr>
          <p:cNvPr id="122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4946" y="3737269"/>
            <a:ext cx="4292398" cy="24270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unknown.png" descr="unknown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765771" y="3776004"/>
            <a:ext cx="4137523" cy="23495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Key Findings </a:t>
            </a:r>
          </a:p>
        </p:txBody>
      </p:sp>
      <p:sp>
        <p:nvSpPr>
          <p:cNvPr id="126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27" name="TextShape 2"/>
          <p:cNvSpPr txBox="1"/>
          <p:nvPr/>
        </p:nvSpPr>
        <p:spPr>
          <a:xfrm>
            <a:off x="209726" y="1109741"/>
            <a:ext cx="8747284" cy="22216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Most Vulnerable Groups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Teenagers, people with mental health conditions, eating-disorder history, and low-income users without access to support.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Common Pattern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All three areas share the same trade-off: short-term convenience leading to long-term loss of skills.</a:t>
            </a:r>
          </a:p>
        </p:txBody>
      </p:sp>
      <p:pic>
        <p:nvPicPr>
          <p:cNvPr id="128" name="unknown.png" descr="unknown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183119" y="3324050"/>
            <a:ext cx="4355449" cy="2462703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unknown.png" descr="unknown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84679" y="3382143"/>
            <a:ext cx="3580459" cy="234651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32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33" name="TextShape 2"/>
          <p:cNvSpPr txBox="1"/>
          <p:nvPr/>
        </p:nvSpPr>
        <p:spPr>
          <a:xfrm>
            <a:off x="209726" y="1109741"/>
            <a:ext cx="8747284" cy="48554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Dual Nature of Wellness Technology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AI wellness apps promote healthy habits and widen access to care, but can undermine self-motivation and autonomy when overused. 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Core Insight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Technology should enhance human capability, not replace it yet we are gradually crossing that line.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The most serious risk lies with children, who may never fully develop navigation, memory, empathy, and emotional regulation.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Guiding Questions for Users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Before letting AI decide for you, ask: is it impossible for me to do it myself? Or am I just avoiding something that I find unpleasant? 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It is crucial to understand the significance of losing something being unable to do things in an optimal way, losing one’s humanity, and being subject to the process.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What do I not learn? (4) What am I going to miss if I do not learn it?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502918" y="146822"/>
            <a:ext cx="5928124" cy="544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32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Future Scope</a:t>
            </a:r>
          </a:p>
        </p:txBody>
      </p:sp>
      <p:sp>
        <p:nvSpPr>
          <p:cNvPr id="136" name="TextShape 3"/>
          <p:cNvSpPr txBox="1"/>
          <p:nvPr>
            <p:ph type="sldNum" sz="quarter" idx="4294967295"/>
          </p:nvPr>
        </p:nvSpPr>
        <p:spPr>
          <a:xfrm>
            <a:off x="8721494" y="6650680"/>
            <a:ext cx="181254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  <p:sp>
        <p:nvSpPr>
          <p:cNvPr id="137" name="TextShape 2"/>
          <p:cNvSpPr txBox="1"/>
          <p:nvPr/>
        </p:nvSpPr>
        <p:spPr>
          <a:xfrm>
            <a:off x="209726" y="1109741"/>
            <a:ext cx="8747284" cy="51478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spcBef>
                <a:spcPts val="100"/>
              </a:spcBef>
              <a:defRPr sz="800">
                <a:latin typeface="+mj-lt"/>
                <a:ea typeface="+mj-ea"/>
                <a:cs typeface="+mj-cs"/>
                <a:sym typeface="Calibri"/>
              </a:defRPr>
            </a:pP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Research Directions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Long-term longitudinal studies (10-20 years) on how continuous AI exposure from childhood shapes development.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Cross-cultural research beyond Western populations to identify global patterns of digital dependence.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Neuroimaging studies on brain recovery and intervention trials on mindful digital practices.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Design &amp; Policy Recommendations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Wellness apps should reduce addictive triggers (streaks, notifications) and disclose their limitations.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Governments should introduce consumer protections, age limits on AI companions, and digital-literacy education.</a:t>
            </a:r>
          </a:p>
          <a:p>
            <a:pPr>
              <a:lnSpc>
                <a:spcPct val="110000"/>
              </a:lnSpc>
              <a:spcBef>
                <a:spcPts val="500"/>
              </a:spcBef>
              <a:defRPr b="1" sz="200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Toward an Interdisciplinary Framework</a:t>
            </a:r>
          </a:p>
          <a:p>
            <a:pPr marL="457200" indent="-317500">
              <a:lnSpc>
                <a:spcPct val="110000"/>
              </a:lnSpc>
              <a:spcBef>
                <a:spcPts val="400"/>
              </a:spcBef>
              <a:buClr>
                <a:srgbClr val="000000"/>
              </a:buClr>
              <a:buSzPts val="1800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Future work must examine how wearables, chatbots, and smartphones interact to shape cognition and behavior.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"/>
          <p:cNvSpPr txBox="1"/>
          <p:nvPr>
            <p:ph type="title"/>
          </p:nvPr>
        </p:nvSpPr>
        <p:spPr>
          <a:xfrm>
            <a:off x="0" y="-1"/>
            <a:ext cx="5486040" cy="914042"/>
          </a:xfrm>
          <a:prstGeom prst="rect">
            <a:avLst/>
          </a:prstGeom>
        </p:spPr>
        <p:txBody>
          <a:bodyPr/>
          <a:lstStyle>
            <a:lvl1pPr>
              <a:defRPr spc="-1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References</a:t>
            </a:r>
          </a:p>
        </p:txBody>
      </p:sp>
      <p:sp>
        <p:nvSpPr>
          <p:cNvPr id="140" name="ReferencesBody"/>
          <p:cNvSpPr txBox="1"/>
          <p:nvPr/>
        </p:nvSpPr>
        <p:spPr>
          <a:xfrm>
            <a:off x="502918" y="1200000"/>
            <a:ext cx="8138164" cy="411819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Lasikiewicz N, Scudds R. WAT's up? Investigating the effects of wearable activity trackers. Journal of Technology in Behavioral Science, 2024.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Baron KG et al. Orthosomnia: Are some patients over-quantifying themselves to excess? Journal of Clinical Sleep Medicine, 2017; 13(2): 351-354.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Levinson CA et al. My Fitness Pal calorie counter use among eating disorder patients. Eating Behaviors, 2017; 27: 14-16.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Kaspersky Lab. Digital Amnesia: The Disappearance of Memory, 2015.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Parasocial Relationships With AI: Dangers, Threats, and Possible Solutions. FasPsych, October 2025.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Influences of attractions on chatbot usage and media addiction. BMC Psychology, August 2025; 13: 986.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Maguire EA et al. London taxi drivers: An MRI analysis of brain structure. Hippocampus, 2006; 16.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Macrynikola N et al. The impact of mindfulness apps on psychological processes of change: a systematic review. npj Mental Health Research, 2024; 3(1): 14.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Uslu U. Understanding digital wellbeing: impacts, strategies, and the path to healthier technology practices. Digital Wellbeing, 2025; 5: art. 145.</a:t>
            </a:r>
          </a:p>
          <a:p>
            <a:pPr marL="342900" indent="-342900">
              <a:lnSpc>
                <a:spcPct val="115000"/>
              </a:lnSpc>
              <a:spcBef>
                <a:spcPts val="300"/>
              </a:spcBef>
              <a:buSzPct val="100000"/>
              <a:buAutoNum type="arabicPeriod" startAt="1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Adanyin A. AI Feedback Loops in Digital Technologies: Psychological Impacts on User Behavior and Well-Being. arXiv, 2024.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Shape 1"/>
          <p:cNvSpPr txBox="1"/>
          <p:nvPr/>
        </p:nvSpPr>
        <p:spPr>
          <a:xfrm>
            <a:off x="1343296" y="3102119"/>
            <a:ext cx="6614160" cy="8497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spAutoFit/>
          </a:bodyPr>
          <a:lstStyle>
            <a:lvl1pPr algn="ctr">
              <a:defRPr sz="5400"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pPr/>
            <a:r>
              <a:t>Thank You</a:t>
            </a:r>
          </a:p>
        </p:txBody>
      </p:sp>
      <p:sp>
        <p:nvSpPr>
          <p:cNvPr id="143" name="TextShape 3"/>
          <p:cNvSpPr txBox="1"/>
          <p:nvPr>
            <p:ph type="sldNum" sz="quarter" idx="4294967295"/>
          </p:nvPr>
        </p:nvSpPr>
        <p:spPr>
          <a:xfrm>
            <a:off x="8428070" y="6414706"/>
            <a:ext cx="258368" cy="248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